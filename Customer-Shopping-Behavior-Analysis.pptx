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ost Grotesk Medium"/>
      <p:regular r:id="rId201314"/>
    </p:embeddedFont>
    <p:embeddedFont>
      <p:font typeface="Host Grotesk Bold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0982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08399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spending patterns, customer segments, and product preferences across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purchases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85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220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371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29220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19371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512963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157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464421"/>
            <a:ext cx="39872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512963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5768206" y="3157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836491"/>
            <a:ext cx="2622724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9830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4289524"/>
            <a:ext cx="232968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Gender, Location, Subscription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0601" y="3836491"/>
            <a:ext cx="2622724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7122" y="39830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07122" y="4289524"/>
            <a:ext cx="232968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Item, Category, Amount, Season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083" y="3836491"/>
            <a:ext cx="2622724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1605" y="39830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Behavior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1605" y="4289524"/>
            <a:ext cx="232968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Discount, Frequency, Reviews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281"/>
            <a:ext cx="48006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1326728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5037" y="13223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85037" y="1685553"/>
            <a:ext cx="216753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missing ratings by category median; renamed columns to snake_case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7471" y="2611264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85037" y="26068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485037" y="2970088"/>
            <a:ext cx="2167533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7471" y="3692723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85037" y="36883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to PostgreSQL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85037" y="4051548"/>
            <a:ext cx="216753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DataFrame loaded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generated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2.1x more revenue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female customers — a significant gap worth investigating for marketing strategy.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37606"/>
            <a:ext cx="3902943" cy="538535"/>
          </a:xfrm>
          <a:prstGeom prst="roundRect">
            <a:avLst>
              <a:gd name="adj" fmla="val 11056"/>
            </a:avLst>
          </a:prstGeom>
          <a:solidFill>
            <a:srgbClr val="C6E4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84313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00573"/>
            <a:ext cx="375768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Male: $157,890 · Female: 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7357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1858045"/>
            <a:ext cx="1880592" cy="1110035"/>
          </a:xfrm>
          <a:prstGeom prst="roundRect">
            <a:avLst>
              <a:gd name="adj" fmla="val 53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10510" y="2018854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10510" y="2382069"/>
            <a:ext cx="1558975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2,847 customers · Avg spend $59.87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72052" y="1858045"/>
            <a:ext cx="1880592" cy="1110035"/>
          </a:xfrm>
          <a:prstGeom prst="roundRect">
            <a:avLst>
              <a:gd name="adj" fmla="val 53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32861" y="2018854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32861" y="2382069"/>
            <a:ext cx="1558975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1,053 customers · Avg spend $59.49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3127549"/>
            <a:ext cx="390294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drive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73% of total revenue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despite similar average spend.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9464"/>
            <a:ext cx="47857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Products &amp; Categories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6810"/>
            <a:ext cx="2376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5 by Review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87736"/>
            <a:ext cx="3902943" cy="2386757"/>
          </a:xfrm>
          <a:prstGeom prst="roundRect">
            <a:avLst>
              <a:gd name="adj" fmla="val 249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1982316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89386" y="1982316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2379315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9386" y="2379315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776314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Sandals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89386" y="2776314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3173313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9386" y="3173313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3570312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9386" y="3570312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967311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9386" y="3967311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9701" y="15068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3 per Category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49701" y="1887736"/>
            <a:ext cx="3902943" cy="1989758"/>
          </a:xfrm>
          <a:prstGeom prst="roundRect">
            <a:avLst>
              <a:gd name="adj" fmla="val 299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6296" y="1982316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42968" y="1982316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Products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6296" y="2379315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Accessories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42968" y="2379315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Jewelry, Sunglasses, Belt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6296" y="2776314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2968" y="2776314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Blouse, Pants, Shirt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6296" y="3173313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Footwear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2968" y="3173313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Sandals, Shoes, Sneakers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6296" y="3570312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Outerwear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42968" y="3570312"/>
            <a:ext cx="21203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Jacket, Coat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52382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Discount Behavior &amp; Shipping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30856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Products Most Often Discounted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26458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49701" y="1676474"/>
            <a:ext cx="1880592" cy="868859"/>
          </a:xfrm>
          <a:prstGeom prst="roundRect">
            <a:avLst>
              <a:gd name="adj" fmla="val 6853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6222" y="182299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96222" y="2186211"/>
            <a:ext cx="158755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$58.46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72052" y="1676474"/>
            <a:ext cx="1880592" cy="868859"/>
          </a:xfrm>
          <a:prstGeom prst="roundRect">
            <a:avLst>
              <a:gd name="adj" fmla="val 6853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18573" y="182299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Express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18573" y="2186211"/>
            <a:ext cx="158755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$60.48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2704802"/>
            <a:ext cx="390294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shippers spend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slightly more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potential upsell opportunity.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49701" y="3289474"/>
            <a:ext cx="3902943" cy="751136"/>
          </a:xfrm>
          <a:prstGeom prst="roundRect">
            <a:avLst>
              <a:gd name="adj" fmla="val 7927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495005"/>
            <a:ext cx="177180" cy="1417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0398" y="3452440"/>
            <a:ext cx="330048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839 customers used discounts and still spent above average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933"/>
            <a:ext cx="44030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2999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122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Segment Definitions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0651" y="1593205"/>
            <a:ext cx="3921993" cy="897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7660" y="17540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 — 3,116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67660" y="2117229"/>
            <a:ext cx="3524176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of base; high repeat purchase rate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0651" y="2632397"/>
            <a:ext cx="3921993" cy="8974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7660" y="27932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Returning — 701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967660" y="3156421"/>
            <a:ext cx="3524176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18%; potential to convert to loyal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0651" y="3671590"/>
            <a:ext cx="3921993" cy="8974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7660" y="38323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New — 83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967660" y="4195614"/>
            <a:ext cx="3524176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2%; onboarding is critical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422970"/>
            <a:ext cx="29723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by Age Group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848618"/>
            <a:ext cx="6572250" cy="3680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5875" y="4601021"/>
            <a:ext cx="7029450" cy="11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Adults lead revenue contribution, but spending is 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remarkably consistent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age groups — broad targeting is viable.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892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Power BI Dashboard &amp;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57499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6574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964010"/>
            <a:ext cx="41912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60129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460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766640"/>
            <a:ext cx="41912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26275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2627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569271"/>
            <a:ext cx="41912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65389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40653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56658" y="4371901"/>
            <a:ext cx="41912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&amp; express shippers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2026-06-13T18:51:00Z</dcterms:created>
  <dcterms:modified xsi:type="dcterms:W3CDTF">2026-06-13T18:51:00Z</dcterms:modified>
</cp:coreProperties>
</file>